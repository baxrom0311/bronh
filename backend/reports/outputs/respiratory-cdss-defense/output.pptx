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d16b8847bf4616" /><Relationship Type="http://schemas.openxmlformats.org/officeDocument/2006/relationships/extended-properties" Target="/docProps/app.xml" Id="Rce8988bf0e154159" /><Relationship Type="http://schemas.openxmlformats.org/officeDocument/2006/relationships/officeDocument" Target="/ppt/presentation.xml" Id="R24a768a498f14f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d085c7357943cf"/>
  </p:sldMasterIdLst>
  <p:notesMasterIdLst>
    <p:notesMasterId xmlns:r="http://schemas.openxmlformats.org/officeDocument/2006/relationships" r:id="Rd7d584929a4e401e"/>
  </p:notesMasterIdLst>
  <p:sldIdLst>
    <p:sldId xmlns:r="http://schemas.openxmlformats.org/officeDocument/2006/relationships" id="256" r:id="Ra1701e785f0a4ece"/>
    <p:sldId xmlns:r="http://schemas.openxmlformats.org/officeDocument/2006/relationships" id="257" r:id="Re4554214746045c4"/>
    <p:sldId xmlns:r="http://schemas.openxmlformats.org/officeDocument/2006/relationships" id="258" r:id="Rd85bd38563bc4eef"/>
    <p:sldId xmlns:r="http://schemas.openxmlformats.org/officeDocument/2006/relationships" id="259" r:id="Rd047e010c4c94df4"/>
    <p:sldId xmlns:r="http://schemas.openxmlformats.org/officeDocument/2006/relationships" id="260" r:id="R39d82a28f30044b8"/>
    <p:sldId xmlns:r="http://schemas.openxmlformats.org/officeDocument/2006/relationships" id="261" r:id="R4fc20d67389d424e"/>
    <p:sldId xmlns:r="http://schemas.openxmlformats.org/officeDocument/2006/relationships" id="262" r:id="R6e6a12166e10494c"/>
    <p:sldId xmlns:r="http://schemas.openxmlformats.org/officeDocument/2006/relationships" id="263" r:id="Rec525827e2fa45ea"/>
    <p:sldId xmlns:r="http://schemas.openxmlformats.org/officeDocument/2006/relationships" id="264" r:id="R75dedbacfe524bf8"/>
    <p:sldId xmlns:r="http://schemas.openxmlformats.org/officeDocument/2006/relationships" id="265" r:id="R98aead8e54e245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085c7357943cf" /><Relationship Type="http://schemas.openxmlformats.org/officeDocument/2006/relationships/theme" Target="/ppt/theme/theme1.xml" Id="R53ed38d81edc4cf7" /><Relationship Type="http://schemas.openxmlformats.org/officeDocument/2006/relationships/notesMaster" Target="/ppt/notesMasters/notesMaster1.xml" Id="Rd7d584929a4e401e" /><Relationship Type="http://schemas.openxmlformats.org/officeDocument/2006/relationships/presProps" Target="/ppt/presProps.xml" Id="R8be47f5bd1684ea4" /><Relationship Type="http://schemas.openxmlformats.org/officeDocument/2006/relationships/viewProps" Target="/ppt/viewProps.xml" Id="R3184f4e22a1b4873" /><Relationship Type="http://schemas.openxmlformats.org/officeDocument/2006/relationships/tableStyles" Target="/ppt/tableStyles.xml" Id="R3a909b08e35d4399" /><Relationship Type="http://schemas.openxmlformats.org/officeDocument/2006/relationships/slide" Target="/ppt/slides/slide1.xml" Id="Ra1701e785f0a4ece" /><Relationship Type="http://schemas.openxmlformats.org/officeDocument/2006/relationships/slide" Target="/ppt/slides/slide2.xml" Id="Re4554214746045c4" /><Relationship Type="http://schemas.openxmlformats.org/officeDocument/2006/relationships/slide" Target="/ppt/slides/slide3.xml" Id="Rd85bd38563bc4eef" /><Relationship Type="http://schemas.openxmlformats.org/officeDocument/2006/relationships/slide" Target="/ppt/slides/slide4.xml" Id="Rd047e010c4c94df4" /><Relationship Type="http://schemas.openxmlformats.org/officeDocument/2006/relationships/slide" Target="/ppt/slides/slide5.xml" Id="R39d82a28f30044b8" /><Relationship Type="http://schemas.openxmlformats.org/officeDocument/2006/relationships/slide" Target="/ppt/slides/slide6.xml" Id="R4fc20d67389d424e" /><Relationship Type="http://schemas.openxmlformats.org/officeDocument/2006/relationships/slide" Target="/ppt/slides/slide7.xml" Id="R6e6a12166e10494c" /><Relationship Type="http://schemas.openxmlformats.org/officeDocument/2006/relationships/slide" Target="/ppt/slides/slide8.xml" Id="Rec525827e2fa45ea" /><Relationship Type="http://schemas.openxmlformats.org/officeDocument/2006/relationships/slide" Target="/ppt/slides/slide9.xml" Id="R75dedbacfe524bf8" /><Relationship Type="http://schemas.openxmlformats.org/officeDocument/2006/relationships/slide" Target="/ppt/slides/slide10.xml" Id="R98aead8e54e245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bba1c0041ac4f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902ab6d9b24321" /><Relationship Type="http://schemas.openxmlformats.org/officeDocument/2006/relationships/notesMaster" Target="/ppt/notesMasters/notesMaster1.xml" Id="R5a2bcda2bcdd46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f49443a2e14531" /><Relationship Type="http://schemas.openxmlformats.org/officeDocument/2006/relationships/notesMaster" Target="/ppt/notesMasters/notesMaster1.xml" Id="Rfb1ca7069b47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a509d3774344fe" /><Relationship Type="http://schemas.openxmlformats.org/officeDocument/2006/relationships/notesMaster" Target="/ppt/notesMasters/notesMaster1.xml" Id="R1f625103b5e04a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45d24f51894927" /><Relationship Type="http://schemas.openxmlformats.org/officeDocument/2006/relationships/notesMaster" Target="/ppt/notesMasters/notesMaster1.xml" Id="Rceea1f01ec794a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ed9f6dbf1f426d" /><Relationship Type="http://schemas.openxmlformats.org/officeDocument/2006/relationships/notesMaster" Target="/ppt/notesMasters/notesMaster1.xml" Id="R6e19fdf5b51b49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90b7a17012480e" /><Relationship Type="http://schemas.openxmlformats.org/officeDocument/2006/relationships/notesMaster" Target="/ppt/notesMasters/notesMaster1.xml" Id="R52e87cbf11234c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b267ff6d4a4fbb" /><Relationship Type="http://schemas.openxmlformats.org/officeDocument/2006/relationships/notesMaster" Target="/ppt/notesMasters/notesMaster1.xml" Id="R758be4cb757146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789f1192fe4f48" /><Relationship Type="http://schemas.openxmlformats.org/officeDocument/2006/relationships/notesMaster" Target="/ppt/notesMasters/notesMaster1.xml" Id="R8e4976ace8c74d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c44b7b611944db" /><Relationship Type="http://schemas.openxmlformats.org/officeDocument/2006/relationships/notesMaster" Target="/ppt/notesMasters/notesMaster1.xml" Id="R06f2920b0ec347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63e59cefce4108" /><Relationship Type="http://schemas.openxmlformats.org/officeDocument/2006/relationships/notesMaster" Target="/ppt/notesMasters/notesMaster1.xml" Id="Recc0954f4dce4c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Kirish qismida mavzu, dolzarblik va ishning asosiy maqsadini qisqa aytib bering.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Respiratory CDSS diplom loyihasi repozitoriyasi va README.</a:t>
            </a:r>
          </a:p>
          <a:p xmlns:a="http://schemas.openxmlformats.org/drawingml/2006/main">
            <a:r>
              <a:t>- backend/reports/diploma_presentation_outline.md va backend/reports/diploma_defense_speech.md.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slaydda muammo, dolzarblik va tizim keltiradigan amaliy foydani qisqa uch bandda tushuntiring.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backend/reports/diploma_presentation_outline.md va backend/reports/diploma_defense_speech.md.</a:t>
            </a:r>
          </a:p>
          <a:p xmlns:a="http://schemas.openxmlformats.org/drawingml/2006/main">
            <a:r>
              <a:t>- Respiratory CDSS diplom loyihasi repozitoriyasi va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Maqsadni aytgandan keyin vazifalarni shu uchta blok orqali umumlashtirib bering.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Respiratory CDSS diplom loyihasi repozitoriyasi va README.</a:t>
            </a:r>
          </a:p>
          <a:p xmlns:a="http://schemas.openxmlformats.org/drawingml/2006/main">
            <a:r>
              <a:t>- FastAPI, React, SQLAlchemy, Alembic va ML pipeline modullari.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Arxitektura slaydida frontend, backend va DB rollarini birma-bir qisqa ta'riflang.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FastAPI, React, SQLAlchemy, Alembic va ML pipeline modullari.</a:t>
            </a:r>
          </a:p>
          <a:p xmlns:a="http://schemas.openxmlformats.org/drawingml/2006/main">
            <a:r>
              <a:t>- Respiratory CDSS diplom loyihasi repozitoriyasi va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yerda dataset hajmi, label soni va preprocessingdan keyingi asosiy data-quality holatlarini ayting.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backend/reports/diploma_ml_results.md va backend/reports/diploma_ml_results.json.</a:t>
            </a:r>
          </a:p>
          <a:p xmlns:a="http://schemas.openxmlformats.org/drawingml/2006/main">
            <a:r>
              <a:t>- Respiratory CDSS diplom loyihasi repozitoriyasi va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Rule-based va ML qatlami bir-birini to'ldirishini, explainability esa natijani o'qiladigan qilganini ta'kidlang.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FastAPI, React, SQLAlchemy, Alembic va ML pipeline modullari.</a:t>
            </a:r>
          </a:p>
          <a:p xmlns:a="http://schemas.openxmlformats.org/drawingml/2006/main">
            <a:r>
              <a:t>- backend/reports/diploma_ml_results.md va backend/reports/diploma_ml_results.json.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Natijalarni ko'rsatib, ular sintetik seed dataset bilan olinganini va shu sabab ehtiyotkor talqin qilish kerakligini ayting.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backend/reports/diploma_ml_results.md va backend/reports/diploma_ml_results.json.</a:t>
            </a:r>
          </a:p>
          <a:p xmlns:a="http://schemas.openxmlformats.org/drawingml/2006/main">
            <a:r>
              <a:t>- backend/reports/diploma_presentation_outline.md va backend/reports/diploma_defense_speech.md.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slaydda explainabilityning amaliy qiymati va role-based UI oqimini ko'rsating.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backend/reports/diploma_ml_results.md va backend/reports/diploma_ml_results.json.</a:t>
            </a:r>
          </a:p>
          <a:p xmlns:a="http://schemas.openxmlformats.org/drawingml/2006/main">
            <a:r>
              <a:t>- FastAPI, React, SQLAlchemy, Alembic va ML pipeline modullari.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Cheklovlarni ochiq ayting: bu prototip, yakuniy klinik tizim 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backend/reports/diploma_ml_results.md va backend/reports/diploma_ml_results.json.</a:t>
            </a:r>
          </a:p>
          <a:p xmlns:a="http://schemas.openxmlformats.org/drawingml/2006/main">
            <a:r>
              <a:t>- backend/reports/diploma_presentation_outline.md va backend/reports/diploma_defense_speech.md.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Yakuniy xulosa va kelajakdagi ishlarni aytib, savollarga tayyor ekaningizni bildiring.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Respiratory CDSS diplom loyihasi repozitoriyasi va README.</a:t>
            </a:r>
          </a:p>
          <a:p xmlns:a="http://schemas.openxmlformats.org/drawingml/2006/main">
            <a:r>
              <a:t>- backend/reports/diploma_ml_results.md va backend/reports/diploma_ml_results.json.</a:t>
            </a:r>
          </a:p>
          <a:p xmlns:a="http://schemas.openxmlformats.org/drawingml/2006/main">
            <a:r>
              <a:t>- backend/reports/diploma_presentation_outline.md va backend/reports/diploma_defense_speech.md.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fbf4044524e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DEFBFAD-611C-49F6-B4C0-3A8C30984C2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D53A41-6C71-4289-B931-FC7B4FE8E4F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0E84C3-05BE-4E5C-95E8-844987BA8AB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58E651-FBF9-4D09-9A11-40EA8ED62AD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eed2d8e8ab843eb" /><Relationship Type="http://schemas.openxmlformats.org/officeDocument/2006/relationships/slideLayout" Target="/ppt/slideLayouts/slideLayout2.xml" Id="Re0be05d928b54c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FA526A-F065-4CB1-91C2-C76BFFA6C99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be05d928b54c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3addc153bf4f55" /><Relationship Type="http://schemas.openxmlformats.org/officeDocument/2006/relationships/image" Target="/ppt/media/image.png" Id="R520a77b02de44c87" /><Relationship Type="http://schemas.openxmlformats.org/officeDocument/2006/relationships/notesSlide" Target="/ppt/notesSlides/notesSlide1.xml" Id="R389675a0020b49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6f000db0749a6" /><Relationship Type="http://schemas.openxmlformats.org/officeDocument/2006/relationships/image" Target="/ppt/media/image2.png" Id="Rbdbe5b84fbb848a5" /><Relationship Type="http://schemas.openxmlformats.org/officeDocument/2006/relationships/notesSlide" Target="/ppt/notesSlides/notesSlide2.xml" Id="R1ef4f645cd3e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832c164441499c" /><Relationship Type="http://schemas.openxmlformats.org/officeDocument/2006/relationships/image" Target="/ppt/media/image3.png" Id="R60fd876edc1d47d5" /><Relationship Type="http://schemas.openxmlformats.org/officeDocument/2006/relationships/notesSlide" Target="/ppt/notesSlides/notesSlide3.xml" Id="Rdefc0bd7ea264c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efeeda6b904df4" /><Relationship Type="http://schemas.openxmlformats.org/officeDocument/2006/relationships/image" Target="/ppt/media/image4.png" Id="R6a351dff15b9452c" /><Relationship Type="http://schemas.openxmlformats.org/officeDocument/2006/relationships/notesSlide" Target="/ppt/notesSlides/notesSlide4.xml" Id="Rffbd4318bae24e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74538f2a3746c3" /><Relationship Type="http://schemas.openxmlformats.org/officeDocument/2006/relationships/image" Target="/ppt/media/image5.png" Id="R47812e10e0ce45ad" /><Relationship Type="http://schemas.openxmlformats.org/officeDocument/2006/relationships/notesSlide" Target="/ppt/notesSlides/notesSlide5.xml" Id="R27fe8641e3f348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4fcb92b1d643d5" /><Relationship Type="http://schemas.openxmlformats.org/officeDocument/2006/relationships/image" Target="/ppt/media/image6.png" Id="Rcd4eb1bc12ef4ab0" /><Relationship Type="http://schemas.openxmlformats.org/officeDocument/2006/relationships/notesSlide" Target="/ppt/notesSlides/notesSlide6.xml" Id="R2eb8611b9e9a4b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9004e2de7442f8" /><Relationship Type="http://schemas.openxmlformats.org/officeDocument/2006/relationships/image" Target="/ppt/media/image7.png" Id="Rf5f1f941f2314814" /><Relationship Type="http://schemas.openxmlformats.org/officeDocument/2006/relationships/notesSlide" Target="/ppt/notesSlides/notesSlide7.xml" Id="Rfb94533f45744b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8fc845165346b4" /><Relationship Type="http://schemas.openxmlformats.org/officeDocument/2006/relationships/image" Target="/ppt/media/image8.png" Id="R165c382632ac407a" /><Relationship Type="http://schemas.openxmlformats.org/officeDocument/2006/relationships/notesSlide" Target="/ppt/notesSlides/notesSlide8.xml" Id="R3eebda86357844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72de6dd50a4bc9" /><Relationship Type="http://schemas.openxmlformats.org/officeDocument/2006/relationships/image" Target="/ppt/media/image9.png" Id="Rce45c38e9750460e" /><Relationship Type="http://schemas.openxmlformats.org/officeDocument/2006/relationships/notesSlide" Target="/ppt/notesSlides/notesSlide9.xml" Id="R5e5f8362149240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59c33f3ba42de" /><Relationship Type="http://schemas.openxmlformats.org/officeDocument/2006/relationships/image" Target="/ppt/media/image10.png" Id="R8812e01776b949aa" /><Relationship Type="http://schemas.openxmlformats.org/officeDocument/2006/relationships/notesSlide" Target="/ppt/notesSlides/notesSlide10.xml" Id="Rd0e6641416e94e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a77b02de44c8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BF519-AF56-49A8-8095-DC36DFFF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A8462-F1D2-4EC5-BFD7-CC2F7D78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7A610-86DA-478F-BD2A-B44C2AF1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Diplom Himoyasi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96362-F2FF-455D-8EAF-7EC0D7FB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Nafas yo'llari infeksiyalari simptomlari asosida dastlabki baholashni amalga oshiruvchi CDSS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9E10F-2A1E-4728-930E-548594B4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Simptomlar, hayotiy ko'rsatkichlar va explainability asosida izohlanadigan klinik qaror ko'magi prototipi.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AB904-4A17-4F90-ADBA-338DE62A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78FE7-DB4F-4491-8B84-292DEC80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Rule-based + Baseline ML + Doctor Review</a:t>
            </a:r>
          </a:p>
        </p:txBody>
      </p:sp>
    </p:spTree>
    <p:extLst>
      <p:ext uri="{BB962C8B-B14F-4D97-AF65-F5344CB8AC3E}">
        <p14:creationId xmlns:p14="http://schemas.microsoft.com/office/powerpoint/2010/main" val="777974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e5b84fbb848a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45D69-42E8-46CF-91CE-CC3A125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44D3B-E0C3-46B6-9FB6-43608BD5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SLAYD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81050-CBFF-46CD-AD5E-C88F7416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47BAA-7776-4F03-9BB0-CA3F8694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896DD-23FC-47E0-BBBF-1AB388FE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830A5-EFA4-44EF-9932-CB56E2CA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Muammo va Dolzarblik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CAE86-B3DB-40E6-89A7-B4BD6EE6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O'xshash simptomlar dastlabki baholashni qiyinlashtiradi va tezkor qaror ko'magini talab qiladi.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4364C-9438-43C2-8FF7-B8B0A67B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CA928-AA08-4094-A339-F74095A0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8B6D7-8F10-46A2-A622-3F47BAF4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AC919-DC5A-4D8A-B5C3-F568F4E5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CA343-28E5-40F0-AE5D-C795E969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B8348-29D4-4FBC-8682-E4B14ED2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7BD1E-7DF9-4740-B735-1F0E7145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Klinik muammo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F5A25-3A26-49C1-9E88-4B703316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ARVI, bronxit, COVID-19 yoki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shoshilinch holatlar bir xil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boshlang'ich simptomlar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bilan namoyon bo'lishi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mumkin.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D57E3-88F7-4AED-8CB2-A278874C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CA672-A630-48F3-AB84-BDD5A01E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1FCA1-D704-494C-A5BF-D9750BD4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DCBBF-287D-46C5-98D1-DE418AE2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23A7C-9330-4DDB-A065-9F2DF08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91561D-A7EC-4FC6-A324-3E207369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CD062-CEB8-4720-86E3-DEC8F67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Nima uchun CDSS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1A3DD8-D626-45C0-A044-4D90527B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Tizim xavfli holatlarni erta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ajratish, simptomlarni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standart ko'rinishda yig'ish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va izohlanadigan tavsiya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berishga yordam beradi.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C48ABD-4F82-480B-8641-B0138427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66B08-5D96-4367-B39D-6B940360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321091-F44C-4F3F-9653-359BADE4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1F77F-AD6C-4FD3-845E-B72A7FC2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C0BAE-AD44-439D-8580-A1C49D2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847E7B-C7CD-4129-9052-92C4232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121DDE-17B8-4BEF-900E-33BC1229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Amaliy foyda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0DBF73-2C7D-4B50-AD8B-44645C94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Birlamchi bo'g'in, skrining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va telemeditsina jarayonida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shifokor yoki tibbiy xodim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uchun qo'shimcha qaror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ko'magi yaratiladi.</a:t>
            </a:r>
          </a:p>
        </p:txBody>
      </p:sp>
    </p:spTree>
    <p:extLst>
      <p:ext uri="{BB962C8B-B14F-4D97-AF65-F5344CB8AC3E}">
        <p14:creationId xmlns:p14="http://schemas.microsoft.com/office/powerpoint/2010/main" val="1601927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d876edc1d47d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3002A-4F91-4206-BB90-7E62190F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84C71-E99D-42F0-A98D-51B017A0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SLAYD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1CFD1-582A-4369-9753-2E23AED8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4123D-468A-4EAF-B9E8-DF739B0F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1CFC3-F9FB-4C2A-8280-A5A42375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4FE1F-C4F6-4CF8-8360-E1500251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Maqsad va Vazifalar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1CA45-EEA4-4DCB-8E48-343EE4C2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Loyiha dasturiy arxitektura, klinik qoidalar va ML pipeline ni bitta amaliy oqimga birlashtiradi.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8F4A8-25CD-4CAF-A211-FD35A8A5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C0E6B-7D01-4DC3-9A96-B9D7818E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52747-52EC-4DF8-BB02-3A496C22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3 qatlam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1313A-7B1F-4A26-8473-C53DDFE9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Frontend, backend va ML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202BD-7D81-41FF-AF24-56491F46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Platform arxitekturasi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B27A8-75F5-41D3-B153-BED18494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88A6A-EA89-4CD5-9835-DD6BEAD3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F7D90-CADA-46EC-834B-59E2E11E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3 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E8D27-25FA-4458-A069-862215C1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patient, doctor, 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4106E-6E17-443B-A6BC-CFBFBD1D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Foydalanuvchi oqimi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E90D5-223A-4A4E-9284-B5FD43C6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40E8F-098E-4BD7-9D59-A4D360A6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08CF7D-41E2-424D-9BA1-12115D7E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 oqim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2F2DB-135D-40EE-9D9F-DDEE5B6F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assessment -&gt; diagnosis -&gt;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4EF47-D27B-4E38-B3CA-C34F76E7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Yakuniy workflow</a:t>
            </a:r>
          </a:p>
        </p:txBody>
      </p:sp>
    </p:spTree>
    <p:extLst>
      <p:ext uri="{BB962C8B-B14F-4D97-AF65-F5344CB8AC3E}">
        <p14:creationId xmlns:p14="http://schemas.microsoft.com/office/powerpoint/2010/main" val="239109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51dff15b9452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12D93-3C3B-4907-A5D8-B14AAF04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AE3D5-DF01-418E-B62B-20D2FAB9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SLAYD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8450C-FC73-46FD-897C-A45EED2A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E9A85-122A-46CC-A888-8DC46C44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2E12E-C471-4EF0-ACD7-0CEFCB52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CA5F1-CFEC-49D3-89DC-3D0A4005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Tizim Arxitekturasi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0821B-6735-4143-B379-C3F074AE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Web ilova, FastAPI backend va ma'lumotlar bazasi qatlami ko'p rolli CDSS platformani hosil qiladi.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54FB4-1A22-4588-BFC9-D1ACC957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50D68-12B6-4DE3-AC7B-C246C631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EB519-7823-49B4-A976-B4E057A3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F9F4D-3293-4FAA-ADC8-592A11F6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8E0DF-4F10-40B6-B1E0-E5531A8A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DA6EA-6EF7-4616-AAF2-323F5170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7135E-546E-48D2-A986-D1E9CDB6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10402-B510-4DB4-A6C1-DAC7D63F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React + TypeScript asosidagi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workspace da assessment,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review queue va admin panel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birlashtirilgan.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E3A68-AF21-4947-80CE-316F69F7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B7D40-64E9-4EE4-99A5-7087B669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22D9A-7386-445D-8668-68BA942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1894B-442A-4F36-B73C-FACD2D2D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02AE2-B18C-48C9-9E54-318A3DEE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9B466-621D-4D5C-9F9A-F2D9DDC5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02947-4B62-4E2E-81AC-1A9251FA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295296-58D7-45D0-844E-EBBB5384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FastAPI routerlari auth,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patients, symptoms,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diagnoses, admin va admin_ml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oqimlarini boshqaradi.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DC04C-8D14-44D1-B725-6213E5FE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3EED52-FB79-4BEE-ACD7-09CADDB2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3F09A5-2750-4108-8D3D-576EEB18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B7688-9904-462C-A77A-6CCFC75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9979B-7F55-4F13-8CDE-7F40BB5E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A76776-AAA4-4828-98BA-E90AB3D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EB7B5A-7422-4158-916D-951D5CE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Ma'lumotlar bazasi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6CD94-E21E-482F-9794-647D4B0C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SQLite dev rejimi,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PostgreSQL va Alembic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migratsiya yo'nalishi deploy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va kengaytirish uchun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tayyorlangan.</a:t>
            </a:r>
          </a:p>
        </p:txBody>
      </p:sp>
    </p:spTree>
    <p:extLst>
      <p:ext uri="{BB962C8B-B14F-4D97-AF65-F5344CB8AC3E}">
        <p14:creationId xmlns:p14="http://schemas.microsoft.com/office/powerpoint/2010/main" val="1192664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12e10e0ce45a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60562-6CFF-4DE2-8A12-E9390199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757C6-32A4-49C9-8B0E-E5F7923A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SLAYD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E65B8-8124-4F73-85ED-E131131A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64167-87A1-4360-9A59-B7A7523C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DFEBA-1F6F-4709-A8BF-49A06047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2D419-0C91-46EC-8B07-708CD154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Ma'lumotlar va Preprocessing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AA8D5-E437-4B5D-8E5C-646207A5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Seed dataset canonical schema, feature dataset va split manifestga o'tkazildi.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6D8FB-FE50-4105-AB26-7E50368C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C62CF-17CD-4523-97EF-F63CE562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3E36C-28D0-4AD6-A5F1-5A3BEC5C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9266B-100D-4468-AFF3-A934A284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Seed dataset qatorlari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D2D9-7165-4ED3-A38D-84F7FCAF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Joriy prototip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70550-545F-4E99-B2B8-8A938277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E45B4-A98B-4556-9B60-981CC18B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F66FB-2A16-46EE-A084-C5F2015C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3DA16-D9CF-473E-BE47-30B5A594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Diagnosis label soni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4AB3C-D44F-45BE-A03C-1E5A0EBF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Baholash sinflari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08924-F214-4FDB-8432-29016D3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F0BFD-50C0-466E-AD1C-196EE52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EBEC0-2BCD-46B5-9D29-59830994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9B9A4-A7B9-44EF-BDC6-761B971C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chronic_diseases missing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5DF8D0-D041-4058-A786-3932AB71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Data quality warning</a:t>
            </a:r>
          </a:p>
        </p:txBody>
      </p:sp>
    </p:spTree>
    <p:extLst>
      <p:ext uri="{BB962C8B-B14F-4D97-AF65-F5344CB8AC3E}">
        <p14:creationId xmlns:p14="http://schemas.microsoft.com/office/powerpoint/2010/main" val="581298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eb1bc12ef4ab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F7EF5-FB62-4273-9E35-02DDC691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02E01-F475-4C6A-B090-A36D8B7E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SLAYD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648BC-6D0F-40B4-AA45-0D5EC4CE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7CFBF-4825-4080-BD55-2996F45C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F77C2-3BA4-4DB9-B0AA-5FA8E2F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E5AE5-FFC7-4A98-A273-96DCB545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Klinik Qaror Mantiqi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9388B-9C6F-4A84-8B04-38D8A52C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Dastlabki baholash gibrid yondashuv bilan ishlaydi: clinical rules va baseline ML modeli birga qo'llanadi.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DBB96-27FE-4255-84FB-BA4C57F8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BE5B3-3801-4B34-BF7D-0B64E103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2F247-C29C-4231-A8F8-FCF1604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9398A-B9D4-4A1F-BA6F-60F4112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8B5CD-BE71-4080-96BA-06096588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E061A-FF74-494D-8D72-BC40B382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2B923-85BA-40CA-BFFC-92B4A1FF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Rule-based triage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F1F49-A661-457F-B703-70B3CD24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Kislorod pasayishi, juda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yuqori yurak urishi yoki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xavfli kombinatsiyalar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shoshilinch holat sifatida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ajratiladi.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EF8B2-B9A7-4F18-8012-37D011E5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3EFF0-15CE-4E26-907A-341B5483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8C441-9612-4043-88F7-EE6EDC2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10F48-0E34-46A2-A194-01E7D561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E3BD2-E790-43C3-B0F0-AD8D78EF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5AC91-1ECC-4767-9499-DA8CED15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B6AD5-F2E4-4E1F-B16D-1B3992C3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Baseline 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258D19-2CEF-412F-B7B4-C26DE87C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Categorical Naive Bayes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featurelar asosida ehtimoliy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qo'llab-quvvatlash beradi va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rule layer bilan birga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ishlaydi.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9A6B4-6FAF-4FC3-A408-6701B098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FC7A0-E30F-470C-A9C3-93CD890E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4B2FD0-1B38-4E4F-B5AC-52CF39FB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DEF89-20B9-451B-93D7-BEDEE267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A594BD-7719-43A9-985A-C8E7376C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F2690F-22C6-4F08-846C-0B7E4F5D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D16B13-12CC-4EB1-B8F8-DE142CD3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Structured explanation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3AB4BA-C945-4EA9-8CF4-CC8A840B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Diagnosis javobida rule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signallari va model support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alohida qaytadi, bu natijani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shifokor uchun izohlab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beradi.</a:t>
            </a:r>
          </a:p>
        </p:txBody>
      </p:sp>
    </p:spTree>
    <p:extLst>
      <p:ext uri="{BB962C8B-B14F-4D97-AF65-F5344CB8AC3E}">
        <p14:creationId xmlns:p14="http://schemas.microsoft.com/office/powerpoint/2010/main" val="1587547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1f941f231481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B90F6-5A20-4CE6-9215-EBCE1E63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EFDE1-BCA4-47AF-8DA7-3E2C1C75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SLAYD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D01A6-9374-46A8-B52F-8125ED7B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E80CF-BA63-4452-8848-D1E2B32A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D32E9-E78B-4AE7-B321-C3D25C07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E9D8E-B02D-4AFE-AC77-C43897CD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Baholash Natijalari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38C4A-2ABD-4546-81F0-36763C24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Holdout va stratified cross-validation natijalari prototip darajasida ijobiy ko'rsatkich berdi.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B659E-943A-4FE2-9C75-9E634EA8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F9C35-C4D8-4B3B-AEF4-497BD773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8D264-010F-441B-A155-45C8BD21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44C7B-7FF3-47BF-891D-209EA376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Holdout aniqligi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54D34-3D92-409B-BD9F-2C368D9A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Seed datasetda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3BD06-BDE7-416E-A5CD-95FCFBE4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B9174-9815-4D6E-AEE3-03DA5463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31142-9F67-44EF-AFD1-D034AF6C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0.943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51797-3284-4947-AE8C-60B0AE15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Cross-validation aniqligi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FDCE4-BA31-4875-93A8-5BE2C49E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5 fold 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21B45-2E65-4C71-AF23-6F82B5AA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9725B-71A3-47C5-93E3-7A6B99AC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9ACD2-3902-4693-A5D6-74CCB276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5 fold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52971-3C7A-4D49-82AE-F0E56DF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Baholash chuqurligi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1D693-0B58-4360-9634-E7824547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Stratified k-fold</a:t>
            </a:r>
          </a:p>
        </p:txBody>
      </p:sp>
    </p:spTree>
    <p:extLst>
      <p:ext uri="{BB962C8B-B14F-4D97-AF65-F5344CB8AC3E}">
        <p14:creationId xmlns:p14="http://schemas.microsoft.com/office/powerpoint/2010/main" val="540510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c382632ac407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DFAC4-F399-4804-8A93-6C381905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D3B61-51E0-4DD8-8384-7B331288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SLAYD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04658-0C69-4908-8616-97556159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1914F-ADD2-4034-BDD1-97EB7175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7F20D-E085-42AD-BEE1-2D2E17E1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76C19-508E-4A4D-B9B2-78A8658F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Explainability va Demo Oqimi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FA16B-61A4-4890-A887-A0322B92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Natijani izohlash, doctor review va admin monitoring amaliy oqimga birlashtirilgan.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64D8A-103A-43D5-945E-8764A397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8B27E-2C43-40C8-AD9B-5647252C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CC205-999A-46BD-AE7C-A866F620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03C23-7696-46D4-BF45-973BE792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AD5B9-EA66-482A-A417-D77E663E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76AD5-2E18-4ECB-ADE7-7AA0D712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9D2C2-F6ED-406A-826C-415F67D1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Explainability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E7DFE-CE75-4736-8BFA-8BE629C5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Global signallarda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runny_nose = yes ARVI uchun,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loss_of_taste = yes esa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COVID-19 uchun kuchli signal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sifatida chiqdi.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66E31-A992-4C1B-A340-3D223194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EB88D-36EC-49BF-962F-41C2912A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E831C-C93B-4682-8D83-4FE9584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DA019-32AB-4BCE-950F-48B5355B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2151B-868E-4859-B74A-D9529AB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30BF1-ACA3-4915-AB7B-E0AEA5B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25623-F15F-467F-A175-38F0145F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Doctor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17362-ADC3-476A-832E-148C4643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Doctor tashxis tarixidan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holatni tanlaydi,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recommendationni ko'radi va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kerak bo'lsa natijani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tasdiqlaydi.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80B08-4F51-4C5F-AABA-D2FE6B69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7DF60-EF80-4472-A677-88CED3F7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595F73-B470-4816-ADDC-44D9D523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999246-F05A-460B-BD6B-E20EF0EF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65A30C-CA36-4B6A-A450-414AE67F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D5D5EB-2DBB-436F-9775-1AAAE46A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30B89-D165-4DC5-B3FF-639FDBF4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Admin monitoring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533489-FBE3-4E02-AC88-D91283E2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Administrator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foydalanuvchilar, umumiy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statistikalar va model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metadata holatini kuzatadi.</a:t>
            </a:r>
          </a:p>
        </p:txBody>
      </p:sp>
    </p:spTree>
    <p:extLst>
      <p:ext uri="{BB962C8B-B14F-4D97-AF65-F5344CB8AC3E}">
        <p14:creationId xmlns:p14="http://schemas.microsoft.com/office/powerpoint/2010/main" val="161673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5c38e9750460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AB5CA-C346-4F43-AC6C-1B3C4459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4AB16-0264-4BB8-9D1B-82C0841B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SLAYD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6ED1E-629D-401A-9D91-1B8453D4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BA648-24AB-4708-8AFA-4EDDDFA3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08643-9B4A-4350-8166-BD997967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64AD1-F5C0-400B-AD6F-9874072A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Cheklovlar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603A0-CC05-4E15-9EEC-7003EFC4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Olingan natijalarni ilmiy va klinik nuqtai nazardan ehtiyotkor talqin qilish zarur.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01BD2-B979-4736-8B07-ACC82B18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6824B-9806-4F59-AEFD-775F3628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22356-E102-4FD0-A83B-64062687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19748-0369-448C-B00E-A1E292D7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CD8F6-D7B5-4F35-966C-8197615F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791C8-537D-4650-A210-597C6E77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0FB27-0810-4B27-9C31-091DD89D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Sintetik seed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348DD-90A5-449B-A5A1-C856971E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Yuqori natijalar real klinik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ma'lumotlar o'rniga kichik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seed dataset asosida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olingan, shuning uchun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umumlashuv cheklangan.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9E1A5-27CA-4EC2-9A65-53D3C666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1243E-CBAE-4A63-B2E7-D53866F5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483E9-2DF2-43CB-AB6F-C3ACAC8D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51939-2AA4-4092-B6DE-F0ADB6A3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36AD5-FC72-4EF1-BD74-C3320EE5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5001F-46E6-46AD-9690-162BA05F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68D09-0262-4314-B6C1-7DA5CC91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Missing qiymatlar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041E7-0964-4F8B-86DE-540ACE66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chronic_diseases ustunida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ko'p missing mavjud va real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datasetda imputatsiya yoki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exclusion qoidalari talab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qilinadi.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FF82B-3192-4F89-ADAA-BAFFCA07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109111-3F2F-43E3-A488-401826B9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5C29C-0BE3-4DF9-A9EF-52F7AB11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21015-54B6-431F-AF52-F4B77CFF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CF2A4A-FD5A-4BE0-A10F-FADC510B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5695B0-2858-4984-9AAE-CECF355C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C87A57-B2D0-409D-AC5D-163E58B9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Keyingi validatsiya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D0ABCB-601C-48DE-A059-F54FB76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Real dataset, kuchliroq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modellarda taqqoslash va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klinik ekspertlar bilan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tekshiruv keyingi bosqich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uchun majburiy hisoblanadi.</a:t>
            </a:r>
          </a:p>
        </p:txBody>
      </p:sp>
    </p:spTree>
    <p:extLst>
      <p:ext uri="{BB962C8B-B14F-4D97-AF65-F5344CB8AC3E}">
        <p14:creationId xmlns:p14="http://schemas.microsoft.com/office/powerpoint/2010/main" val="95399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52223A-CF89-4FB9-AAF5-0E9AF7265F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2e01776b949a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45FE9-C0AC-4D81-A140-524B8D61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501E5-F1BD-45E0-9F7B-DCB0018A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SLAYD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28575-5F7A-4F14-8BBB-66B2C7E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2C167-2000-4A94-ABFC-FF03F010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788E3-9B30-497B-8DA8-928C915A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1FBE6-53F2-4BDE-B186-20395573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Xulosa va Keyingi Ishlar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DBFBE-DFAE-472A-8809-E0377BCF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Prototip darajasidagi CDSS platformasi ishlaydigan holatga keltirildi va real dataset bosqichiga tayyorlandi.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2AEEA-DAC6-4867-B947-E072C709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8F39B-A739-40E2-A97A-9AB8C2F5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3A157-2C44-4632-AE0E-5BB04CA2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ADB5F-4EC6-4386-8B40-5807BF3B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51085-583D-407A-A940-E456A701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E842E-84A6-4F9C-9765-4D5B6C4A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2BD03-E356-4D3E-8739-A6EEF78F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Yetkazilgan natija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AEBB9-2F15-4997-B0D6-067F2A6C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Ishlaydigan web ilova, ML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pipeline, explainability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qatlamlari va diplom uchun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avtomatik report draftlari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yaratildi.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72937-0D63-4FBD-B38A-FBC02CEA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C1031-96D5-491D-8484-C3EFD97A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9D273-B07A-4B14-98E2-924AA09B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E9960-2BD0-4895-9696-F1B3020C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04339-DD44-47C0-9E16-9029AD2F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B0465-4229-4E6B-BFA4-595EE5BA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7D2D5-7AAB-470C-8E5E-01BCCF62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Keyingi bosqich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B9233-405D-4D98-894A-E2CCAD80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Real klinik yoki ochiq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dataset bilan pipeline qayta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ishga tushiriladi va XGBoost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hamda SHAP bilan taqqoslash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o'tkaziladi.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A73A3-DB31-4197-9BC0-69EB2D76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E7B30-859B-4F05-9971-8C9E928C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47EC2C-9C40-4A33-86B3-25D9773A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9249D7-82FD-411F-8BFD-245814BE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E3B269-6F5B-4048-889C-7FA9B0B9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257B9-CFBF-42F3-A3CD-4533B961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62C19D-213E-4F46-B89B-0771589D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Himoya xulosasi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6D62D7-6DB4-4EDE-9F1E-C96F7C3E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Loyiha diplom ishining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amaliy qismini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shakllantirish uchun yetarli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texnik poydevor va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kengaytirish yo'nalishini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berdi.</a:t>
            </a:r>
          </a:p>
        </p:txBody>
      </p:sp>
    </p:spTree>
    <p:extLst>
      <p:ext uri="{BB962C8B-B14F-4D97-AF65-F5344CB8AC3E}">
        <p14:creationId xmlns:p14="http://schemas.microsoft.com/office/powerpoint/2010/main" val="2029824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2026-04-21T18:43:31.9350000Z</dcterms:created>
  <dcterms:modified xsi:type="dcterms:W3CDTF">2026-04-21T18:43:31.9350000Z</dcterms:modified>
</coreProperties>
</file>